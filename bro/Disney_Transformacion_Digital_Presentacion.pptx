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5582"/>
                </a:solidFill>
              </a:defRPr>
            </a:pPr>
            <a:r>
              <a:t>Transformación Digital en Disney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FFC72C"/>
                </a:solidFill>
              </a:defRPr>
            </a:pPr>
            <a:r>
              <a:t>Post-Adquisición de 21st Century Fox</a:t>
            </a:r>
          </a:p>
          <a:p>
            <a:pPr>
              <a:defRPr sz="1800">
                <a:solidFill>
                  <a:srgbClr val="404040"/>
                </a:solidFill>
              </a:defRPr>
            </a:pPr>
          </a:p>
          <a:p>
            <a:r>
              <a:t>Análisis del proceso de transformación digital más importante del sector entretenimiento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5582"/>
                </a:solidFill>
              </a:defRPr>
            </a:pPr>
            <a:r>
              <a:t>Contexto: La Gran Adquisición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3200" b="1">
                <a:solidFill>
                  <a:srgbClr val="FFC72C"/>
                </a:solidFill>
              </a:defRPr>
            </a:pPr>
            <a:r>
              <a:t>$71.3 mil millones</a:t>
            </a:r>
          </a:p>
          <a:p>
            <a:pPr>
              <a:spcBef>
                <a:spcPts val="2000"/>
              </a:spcBef>
              <a:defRPr sz="2000" b="1">
                <a:solidFill>
                  <a:srgbClr val="1F5582"/>
                </a:solidFill>
              </a:defRPr>
            </a:pPr>
            <a:r>
              <a:t>Activos Clave Adquiridos (2019):</a:t>
            </a:r>
          </a:p>
          <a:p>
            <a:pPr lvl="1">
              <a:spcBef>
                <a:spcPts val="1200"/>
              </a:spcBef>
              <a:defRPr sz="1800"/>
            </a:pPr>
            <a:r>
              <a:t>🎭 20th Century Fox Studios</a:t>
            </a:r>
          </a:p>
          <a:p>
            <a:pPr lvl="1">
              <a:spcBef>
                <a:spcPts val="1200"/>
              </a:spcBef>
              <a:defRPr sz="1800"/>
            </a:pPr>
            <a:r>
              <a:t>📺 FX Networks</a:t>
            </a:r>
          </a:p>
          <a:p>
            <a:pPr lvl="1">
              <a:spcBef>
                <a:spcPts val="1200"/>
              </a:spcBef>
              <a:defRPr sz="1800"/>
            </a:pPr>
            <a:r>
              <a:t>🌍 National Geographic</a:t>
            </a:r>
          </a:p>
          <a:p>
            <a:pPr lvl="1">
              <a:spcBef>
                <a:spcPts val="1200"/>
              </a:spcBef>
              <a:defRPr sz="1800"/>
            </a:pPr>
            <a:r>
              <a:t>🎮 Control total de Hulu</a:t>
            </a:r>
          </a:p>
          <a:p>
            <a:pPr algn="ctr">
              <a:spcBef>
                <a:spcPts val="2000"/>
              </a:spcBef>
              <a:defRPr sz="1600" i="1">
                <a:solidFill>
                  <a:srgbClr val="404040"/>
                </a:solidFill>
              </a:defRPr>
            </a:pPr>
            <a:r>
              <a:t>Objetivo: Consolidar contenido premium para competir en la era del streaming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5582"/>
                </a:solidFill>
              </a:defRPr>
            </a:pPr>
            <a:r>
              <a:t>Estrategia de Transformación Digital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5582"/>
                </a:solidFill>
              </a:defRPr>
            </a:pPr>
            <a:r>
              <a:t>🎯 Direct-to-Consumer (DTC)</a:t>
            </a:r>
          </a:p>
          <a:p>
            <a:pPr lvl="1">
              <a:spcBef>
                <a:spcPts val="800"/>
              </a:spcBef>
              <a:defRPr sz="1600"/>
            </a:pPr>
            <a:r>
              <a:t>Disney+</a:t>
            </a:r>
          </a:p>
          <a:p>
            <a:pPr lvl="1">
              <a:spcBef>
                <a:spcPts val="800"/>
              </a:spcBef>
              <a:defRPr sz="1600"/>
            </a:pPr>
            <a:r>
              <a:t>ESPN+</a:t>
            </a:r>
          </a:p>
          <a:p>
            <a:pPr lvl="1">
              <a:spcBef>
                <a:spcPts val="800"/>
              </a:spcBef>
              <a:defRPr sz="1600"/>
            </a:pPr>
            <a:r>
              <a:t>Hulu (control total)</a:t>
            </a:r>
          </a:p>
          <a:p>
            <a:pPr>
              <a:spcBef>
                <a:spcPts val="2000"/>
              </a:spcBef>
              <a:defRPr sz="2200" b="1">
                <a:solidFill>
                  <a:srgbClr val="1F5582"/>
                </a:solidFill>
              </a:defRPr>
            </a:pPr>
            <a:r>
              <a:t>🔄 Integración de Plataformas</a:t>
            </a:r>
          </a:p>
          <a:p>
            <a:pPr lvl="1">
              <a:spcBef>
                <a:spcPts val="800"/>
              </a:spcBef>
              <a:defRPr sz="1600"/>
            </a:pPr>
            <a:r>
              <a:t>Unificación de sistemas</a:t>
            </a:r>
          </a:p>
          <a:p>
            <a:pPr lvl="1">
              <a:spcBef>
                <a:spcPts val="800"/>
              </a:spcBef>
              <a:defRPr sz="1600"/>
            </a:pPr>
            <a:r>
              <a:t>Experiencia de usuario cohesiva</a:t>
            </a:r>
          </a:p>
          <a:p>
            <a:pPr lvl="1">
              <a:spcBef>
                <a:spcPts val="800"/>
              </a:spcBef>
              <a:defRPr sz="1600"/>
            </a:pPr>
            <a:r>
              <a:t>Cross-platform synergy</a:t>
            </a:r>
          </a:p>
          <a:p>
            <a:pPr>
              <a:spcBef>
                <a:spcPts val="2000"/>
              </a:spcBef>
              <a:defRPr sz="2200" b="1">
                <a:solidFill>
                  <a:srgbClr val="1F5582"/>
                </a:solidFill>
              </a:defRPr>
            </a:pPr>
            <a:r>
              <a:t>🤖 Data Analytics &amp; AI</a:t>
            </a:r>
          </a:p>
          <a:p>
            <a:pPr lvl="1">
              <a:spcBef>
                <a:spcPts val="800"/>
              </a:spcBef>
              <a:defRPr sz="1600"/>
            </a:pPr>
            <a:r>
              <a:t>Personalización de contenido</a:t>
            </a:r>
          </a:p>
          <a:p>
            <a:pPr lvl="1">
              <a:spcBef>
                <a:spcPts val="800"/>
              </a:spcBef>
              <a:defRPr sz="1600"/>
            </a:pPr>
            <a:r>
              <a:t>Optimización de recomendaciones</a:t>
            </a:r>
          </a:p>
          <a:p>
            <a:pPr lvl="1">
              <a:spcBef>
                <a:spcPts val="800"/>
              </a:spcBef>
              <a:defRPr sz="1600"/>
            </a:pPr>
            <a:r>
              <a:t>Machine Learning avanzado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5582"/>
                </a:solidFill>
              </a:defRPr>
            </a:pPr>
            <a:r>
              <a:t>Implementación Tecnológica e 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 b="1">
                <a:solidFill>
                  <a:srgbClr val="1F5582"/>
                </a:solidFill>
              </a:defRPr>
            </a:pPr>
            <a:r>
              <a:t>☁️ AWS Partnership</a:t>
            </a:r>
          </a:p>
          <a:p>
            <a:pPr lvl="1">
              <a:spcBef>
                <a:spcPts val="600"/>
              </a:spcBef>
              <a:defRPr sz="1400"/>
            </a:pPr>
            <a:r>
              <a:t>Escalabilidad global</a:t>
            </a:r>
          </a:p>
          <a:p>
            <a:pPr lvl="1">
              <a:spcBef>
                <a:spcPts val="600"/>
              </a:spcBef>
              <a:defRPr sz="1400"/>
            </a:pPr>
            <a:r>
              <a:t>CDN optimizado</a:t>
            </a:r>
          </a:p>
          <a:p>
            <a:pPr lvl="1">
              <a:spcBef>
                <a:spcPts val="600"/>
              </a:spcBef>
              <a:defRPr sz="1400"/>
            </a:pPr>
            <a:r>
              <a:t>Security Framework</a:t>
            </a:r>
          </a:p>
          <a:p>
            <a:pPr>
              <a:spcBef>
                <a:spcPts val="1800"/>
              </a:spcBef>
              <a:defRPr sz="2000" b="1">
                <a:solidFill>
                  <a:srgbClr val="1F5582"/>
                </a:solidFill>
              </a:defRPr>
            </a:pPr>
            <a:r>
              <a:t>🧠 BAMTech Platform</a:t>
            </a:r>
          </a:p>
          <a:p>
            <a:pPr lvl="1">
              <a:spcBef>
                <a:spcPts val="600"/>
              </a:spcBef>
              <a:defRPr sz="1400"/>
            </a:pPr>
            <a:r>
              <a:t>CRM Unificado (Vista 360° del cliente)</a:t>
            </a:r>
          </a:p>
          <a:p>
            <a:pPr lvl="1">
              <a:spcBef>
                <a:spcPts val="600"/>
              </a:spcBef>
              <a:defRPr sz="1400"/>
            </a:pPr>
            <a:r>
              <a:t>Content Management centralizado</a:t>
            </a:r>
          </a:p>
          <a:p>
            <a:pPr lvl="1">
              <a:spcBef>
                <a:spcPts val="600"/>
              </a:spcBef>
              <a:defRPr sz="1400"/>
            </a:pPr>
            <a:r>
              <a:t>Analytics con Machine Learning</a:t>
            </a:r>
          </a:p>
          <a:p>
            <a:pPr>
              <a:spcBef>
                <a:spcPts val="1800"/>
              </a:spcBef>
              <a:defRPr sz="2000" b="1">
                <a:solidFill>
                  <a:srgbClr val="1F5582"/>
                </a:solidFill>
              </a:defRPr>
            </a:pPr>
            <a:r>
              <a:t>🔒 Protección Premium</a:t>
            </a:r>
          </a:p>
          <a:p>
            <a:pPr lvl="1">
              <a:spcBef>
                <a:spcPts val="600"/>
              </a:spcBef>
              <a:defRPr sz="1400"/>
            </a:pPr>
            <a:r>
              <a:t>DRM avanzado</a:t>
            </a:r>
          </a:p>
          <a:p>
            <a:pPr lvl="1">
              <a:spcBef>
                <a:spcPts val="600"/>
              </a:spcBef>
              <a:defRPr sz="1400"/>
            </a:pPr>
            <a:r>
              <a:t>Gestión compleja de licencias</a:t>
            </a:r>
          </a:p>
          <a:p>
            <a:pPr lvl="1">
              <a:spcBef>
                <a:spcPts val="600"/>
              </a:spcBef>
              <a:defRPr sz="1400"/>
            </a:pPr>
            <a:r>
              <a:t>Frameworks de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1F5582"/>
                </a:solidFill>
              </a:defRPr>
            </a:pPr>
            <a:r>
              <a:t>Resultados Extraordinarios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defRPr sz="2400" b="1">
                <a:solidFill>
                  <a:srgbClr val="1F5582"/>
                </a:solidFill>
              </a:defRPr>
            </a:pPr>
            <a:r>
              <a:t>📊 Métricas de Éxito</a:t>
            </a:r>
          </a:p>
          <a:p>
            <a:pPr>
              <a:spcBef>
                <a:spcPts val="1200"/>
              </a:spcBef>
              <a:defRPr sz="1800" b="1">
                <a:solidFill>
                  <a:srgbClr val="FFC72C"/>
                </a:solidFill>
              </a:defRPr>
            </a:pPr>
            <a:r>
              <a:t>150M+ Suscriptores Disney+ (2023)</a:t>
            </a:r>
          </a:p>
          <a:p>
            <a:pPr lvl="1">
              <a:spcBef>
                <a:spcPts val="1200"/>
              </a:spcBef>
              <a:defRPr sz="1400" b="0">
                <a:solidFill>
                  <a:srgbClr val="404040"/>
                </a:solidFill>
              </a:defRPr>
            </a:pPr>
            <a:r>
              <a:t>Crecimiento más rápido que Netflix en sus primeros años</a:t>
            </a:r>
          </a:p>
          <a:p>
            <a:pPr>
              <a:spcBef>
                <a:spcPts val="1200"/>
              </a:spcBef>
              <a:defRPr sz="1800" b="1">
                <a:solidFill>
                  <a:srgbClr val="FFC72C"/>
                </a:solidFill>
              </a:defRPr>
            </a:pPr>
            <a:r>
              <a:t>45M+ Suscriptores Hulu (control total)</a:t>
            </a:r>
          </a:p>
          <a:p>
            <a:pPr lvl="1">
              <a:spcBef>
                <a:spcPts val="1200"/>
              </a:spcBef>
              <a:defRPr sz="1400" b="0">
                <a:solidFill>
                  <a:srgbClr val="404040"/>
                </a:solidFill>
              </a:defRPr>
            </a:pPr>
            <a:r>
              <a:t>Estrategia de bundling exitosa</a:t>
            </a:r>
          </a:p>
          <a:p>
            <a:pPr>
              <a:spcBef>
                <a:spcPts val="2400"/>
              </a:spcBef>
              <a:defRPr sz="2000" b="1">
                <a:solidFill>
                  <a:srgbClr val="1F5582"/>
                </a:solidFill>
              </a:defRPr>
            </a:pPr>
            <a:r>
              <a:t>🏆 Logros Clave Alcanzados</a:t>
            </a:r>
          </a:p>
          <a:p>
            <a:pPr lvl="1">
              <a:spcBef>
                <a:spcPts val="800"/>
              </a:spcBef>
              <a:defRPr sz="1600"/>
            </a:pPr>
            <a:r>
              <a:t>✅ Transformación B2B2C → B2C exitosa</a:t>
            </a:r>
          </a:p>
          <a:p>
            <a:pPr lvl="1">
              <a:spcBef>
                <a:spcPts val="800"/>
              </a:spcBef>
              <a:defRPr sz="1600"/>
            </a:pPr>
            <a:r>
              <a:t>✅ Diversificación de ingresos consolidada</a:t>
            </a:r>
          </a:p>
          <a:p>
            <a:pPr lvl="1">
              <a:spcBef>
                <a:spcPts val="800"/>
              </a:spcBef>
              <a:defRPr sz="1600"/>
            </a:pPr>
            <a:r>
              <a:t>✅ Expansión internacional acelerada</a:t>
            </a:r>
          </a:p>
          <a:p>
            <a:pPr lvl="1">
              <a:spcBef>
                <a:spcPts val="800"/>
              </a:spcBef>
              <a:defRPr sz="1600"/>
            </a:pPr>
            <a:r>
              <a:t>✅ Integración exitosa de activos Fox</a:t>
            </a:r>
          </a:p>
          <a:p>
            <a:pPr algn="ctr">
              <a:spcBef>
                <a:spcPts val="2000"/>
              </a:spcBef>
              <a:defRPr sz="1800" b="1" i="1">
                <a:solidFill>
                  <a:srgbClr val="FFC72C"/>
                </a:solidFill>
              </a:defRPr>
            </a:pPr>
            <a:r>
              <a:t>💡 "La velocidad de implementación definió el éxito"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